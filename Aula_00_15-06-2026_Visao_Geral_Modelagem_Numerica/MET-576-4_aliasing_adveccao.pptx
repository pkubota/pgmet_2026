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4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15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título. O programa demonstra aliasing, instabilidade não-linear e ondas espúrias em advecção numérica 1D. N=64 pontos na grade, λ=5·Δx, CFL=0.4, integração RK4.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 programa: ferramenta de visualização didática com 5 painéis. Dependências: numpy e matplotlib. Parâmetros N e K_MULT podem ser modificados no main().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completa com os 5 painéis gerados pelo script Python. Parâmetros: N=64, K_MULT=5, CFL=0.4, integração Runge-Kutta de 4ª ordem.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 de Nyquist: para amostrar corretamente um sinal, a grade precisa de pelo menos 2 pontos por comprimento de onda.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Aliasing não-linear: o termo quadrático da equação de advecção gera energia em números de onda que podem ultrapassar o limite de Nyquist.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Iga (2005): ondas espúrias surgem porque pequenas escalas têm velocidade de grupo numérica negativa nas diferenças centradas.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Espectro: o bump espúrio é um acúmulo de energia artificial nas pequenas escalas, visível em comparações ERA5 vs simulações de modelos de alta resolução.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Relação de dispersão: a diferença centrada introduz erro de fase para escalas curtas, e velocidade de grupo negativa para λ &lt; 4Δx.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Experimentos sugeridos para reproduzir os cenários dos slides. Modifique N e K_MULT no main() do script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Conclusões: 5 pontos principais sobre aliasing, erros não-lineares, ondas espúrias, bump espúrio e soluções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229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Aliasing, Instabilidade Não-Linear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Ondas Espúrias em Advecção Numérica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288036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2880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MET-576-4  |  Fontes de Erros nos Modelos de Previsões Numéricas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7–12: Discretização da Dinâmica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1605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60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64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na grade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41605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4160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5·Δx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de onda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41605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4160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CFL = 0.4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Courant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41605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4160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temporal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Programa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F0F7FB"/>
          </a:solidFill>
          <a:ln w="12700">
            <a:solidFill>
              <a:srgbClr val="D6EAF8"/>
            </a:solidFill>
            <a:prstDash val="solid"/>
          </a:ln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didática de visualização científica que demonstra em 5 painéis os principais erros numéricos ao discretizar equações de advecção em modelos de previsão do tempo.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aliasing_adveccao_numerica.png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com 5 painéis interativos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Ajustáveis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(pontos na grade) e K_MULT (λ/Δx) no main()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0D2137"/>
          </a:solidFill>
          <a:ln w="12700">
            <a:solidFill>
              <a:srgbClr val="0A4A6B"/>
            </a:solidFill>
            <a:prstDash val="solid"/>
          </a:ln>
          <a:effectLst>
            <a:outerShdw blurRad="762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Módulos de Visualização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292608" cy="292608"/>
          </a:xfrm>
          <a:prstGeom prst="ellipse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13716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na grade — Critério de Nyquist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993392"/>
            <a:ext cx="292608" cy="292608"/>
          </a:xfrm>
          <a:prstGeom prst="ellipse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19933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 não-linear — Fold-back de energia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615184"/>
            <a:ext cx="292608" cy="292608"/>
          </a:xfrm>
          <a:prstGeom prst="ellipse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6151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espúrias — Experimento de Iga (2005)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292608" cy="292608"/>
          </a:xfrm>
          <a:prstGeom prst="ellipse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323697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 de energia — Bump espúrio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858768"/>
            <a:ext cx="292608" cy="292608"/>
          </a:xfrm>
          <a:prstGeom prst="ellipse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858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38587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de dispersão numérica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MET-576-4  |  aliasing_adveccao_numerica.py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Visão Geral dos 5 Painéis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64 pontos  |  λ = 5·Δx  |  CFL = 0.4  |  Integração RK4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Sinal na Grade — Critério de Nyquist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F0F7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13232"/>
            <a:ext cx="4937760" cy="32735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658368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0D2137"/>
          </a:solidFill>
          <a:ln w="12700">
            <a:solidFill>
              <a:srgbClr val="0A4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77724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777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Nyquist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0" y="11430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1444752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sinal analítico contínuo com versão amostrada na grade discreta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de Nyquist exige λ ≥ 2·Δx (mínimo 2 pontos por comprimento de onda)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λ = 5·Δx o risco de aliasing é ALTO — próximo ao limite de Nyquist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nyquist_ratio = k_mult / 2.0 quantifica a proximidade do limite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3566160"/>
            <a:ext cx="3154680" cy="384048"/>
          </a:xfrm>
          <a:prstGeom prst="roundRect">
            <a:avLst>
              <a:gd name="adj" fmla="val 14286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5661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≥ 2·Δx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MET-576-4  |  Painel 01  |  N = 64, λ = 5·Δx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Aliasing Não-Linear — Fold-back de Energia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F0F7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13232"/>
            <a:ext cx="4937760" cy="32735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658368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0D2137"/>
          </a:solidFill>
          <a:ln w="12700">
            <a:solidFill>
              <a:srgbClr val="0A4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77724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777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Fold-back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0" y="11430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1444752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interação entre dois modos via termo não-linear u·∂u/∂x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u₁·u₂ = sin(k)·cos(k) = ½·sin(2k) gera energia em 2k₁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2k₁ &gt; k_Nyquist = π/Δx, a energia 'dobra de volta' para escalas menores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Fold-back ativo quando λ = 5·Δx: energia espúria aparece na grade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3566160"/>
            <a:ext cx="3154680" cy="384048"/>
          </a:xfrm>
          <a:prstGeom prst="roundRect">
            <a:avLst>
              <a:gd name="adj" fmla="val 14286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5661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k_alias = 2k₁ − k_Nyquist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MET-576-4  |  Painel 02  |  N = 64, λ = 5·Δx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Ondas Espúrias — Experimento de Iga (2005)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F0F7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13232"/>
            <a:ext cx="4937760" cy="32735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658368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0D2137"/>
          </a:solidFill>
          <a:ln w="12700">
            <a:solidFill>
              <a:srgbClr val="0A4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77724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777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 (2005)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0" y="11430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1444752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gaussiano advectado com diferenças finitas centradas (2ª ordem) + RK4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numérica gera ondas espúrias propagando-se na direção oposta ao vento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de grupo numérica: c_g/c = cos(k·Δx) &lt; 0 para λ &lt; 4·Δx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reproduz os slides 9–12 com CFL = 0.4 e T = 0.3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3566160"/>
            <a:ext cx="3154680" cy="384048"/>
          </a:xfrm>
          <a:prstGeom prst="roundRect">
            <a:avLst>
              <a:gd name="adj" fmla="val 14286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5661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c_g/c = cos(k·Δx)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MET-576-4  |  Painel 03  |  N = 64, λ = 5·Δx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Espectro de Energia — Bump Espúrio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F0F7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13232"/>
            <a:ext cx="4937760" cy="32735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658368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0D2137"/>
          </a:solidFill>
          <a:ln w="12700">
            <a:solidFill>
              <a:srgbClr val="0A4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77724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777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espúrio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0" y="11430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1444752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 de energia via DFT (Transformada Discreta de Fourier) do sinal composto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acima de k_Nyquist = N/2 não desaparece — é redobrada (fold-back)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 'bump' espúrio nas escalas 2Δx–4Δx (observado em ERA5 vs simulações)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logarítmica revela o acúmulo de energia perto do limite de Nyquist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3566160"/>
            <a:ext cx="3154680" cy="384048"/>
          </a:xfrm>
          <a:prstGeom prst="roundRect">
            <a:avLst>
              <a:gd name="adj" fmla="val 14286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5661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k_Nyquist = N/2 = 32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MET-576-4  |  Painel 04  |  N = 64, λ = 5·Δx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Relação de Dispersão Numérica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F0F7FB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13232"/>
            <a:ext cx="4937760" cy="32735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658368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0D2137"/>
          </a:solidFill>
          <a:ln w="12700">
            <a:solidFill>
              <a:srgbClr val="0A4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77724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777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Dispersão numérica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0" y="11430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1444752"/>
            <a:ext cx="31546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de fase numérica: c_φ/c = sin(k·Δx) / (k·Δx) — sempre positiva mas subestimada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de grupo numérica: c_g/c = cos(k·Δx) — torna-se NEGATIVA para λ &lt; 4·Δx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vermelha (kΔx &gt; π/2) = ondas propagam na direção errada (ondas espúrias!)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limite de Nyquist (kΔx = π), c_g/c = −1: onda retrocede à velocidade máxima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3566160"/>
            <a:ext cx="3154680" cy="384048"/>
          </a:xfrm>
          <a:prstGeom prst="roundRect">
            <a:avLst>
              <a:gd name="adj" fmla="val 14286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5661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c_g/c = cos(k·Δx) &lt; 0  para  λ &lt; 4Δx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MET-576-4  |  Painel 05  |  N = 64, λ = 5·Δx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Experimentos Sugeridos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91440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14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Grossa vs Fina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09344"/>
            <a:ext cx="3840480" cy="292608"/>
          </a:xfrm>
          <a:prstGeom prst="roundRect">
            <a:avLst>
              <a:gd name="adj" fmla="val 12500"/>
            </a:avLst>
          </a:prstGeom>
          <a:solidFill>
            <a:srgbClr val="0A3A52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9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N=32, K=3  →  N=256, K=3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grossa reproduz ondas espúrias grandes. Grade fina reduz o artefato.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91440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14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261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de Δz — Iga (2005)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1609344"/>
            <a:ext cx="3840480" cy="292608"/>
          </a:xfrm>
          <a:prstGeom prst="roundRect">
            <a:avLst>
              <a:gd name="adj" fmla="val 12500"/>
            </a:avLst>
          </a:prstGeom>
          <a:solidFill>
            <a:srgbClr val="0A3A52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609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N=64, K=2  →  N=64, K=8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197510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2·Δx gera aliasing crítico. λ = 8·Δx elimina as ondas espúrias.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29260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273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 Severo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621024"/>
            <a:ext cx="3840480" cy="292608"/>
          </a:xfrm>
          <a:prstGeom prst="roundRect">
            <a:avLst>
              <a:gd name="adj" fmla="val 12500"/>
            </a:avLst>
          </a:prstGeom>
          <a:solidFill>
            <a:srgbClr val="0A3A52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21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N=32, K=2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98678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não-linear: 2k + 2k &gt; k_Nyquist → fold-back ativo.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8346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A4A6B"/>
          </a:solidFill>
          <a:ln w="12700">
            <a:solidFill>
              <a:srgbClr val="1A6B8A"/>
            </a:solidFill>
            <a:prstDash val="solid"/>
          </a:ln>
          <a:effectLst>
            <a:outerShdw blurRad="762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0328" y="29260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926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273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Espectros ERA5 vs Simulações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3621024"/>
            <a:ext cx="3840480" cy="292608"/>
          </a:xfrm>
          <a:prstGeom prst="roundRect">
            <a:avLst>
              <a:gd name="adj" fmla="val 12500"/>
            </a:avLst>
          </a:prstGeom>
          <a:solidFill>
            <a:srgbClr val="0A3A52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621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N=64, K=4  →  N=128, K=4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398678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espúrio no espectro. Aumentar N reduz o artefato.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 N e K_MULT no main() para reproduzir cada cenário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9536"/>
            <a:ext cx="347472" cy="347472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59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82296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de Nyquist (λ ≥ 2·Δx) é condição necessária mas não suficiente para representação sem aliasing.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636776"/>
            <a:ext cx="347472" cy="347472"/>
          </a:xfrm>
          <a:prstGeom prst="ellipse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002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não-lineares geram energia em harmônicos superiores que ultrapassam k_Nyquist e sofrem fold-back, contaminando a solução.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347472" cy="347472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finitas centradas introduzem erros de dispersão: ondas com λ &lt; 4·Δx propagam-se na direção oposta ao vento físico.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347472" cy="347472"/>
          </a:xfrm>
          <a:prstGeom prst="ellipse">
            <a:avLst/>
          </a:prstGeom>
          <a:solidFill>
            <a:srgbClr val="E8521A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1546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bump espúrio no espectro de energia é a assinatura observacional desses erros — visível em comparações ERA5 vs simulações.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68496"/>
            <a:ext cx="347472" cy="347472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319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a resolução (N maior) atenua mas não elimina os erros; esquemas de maior ordem ou filtros numéricos são necessários.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MET-576-4  |  Fontes de Erros nos Modelos de Previsões Numéricas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1278</Words>
  <Application>Microsoft Office PowerPoint</Application>
  <PresentationFormat>Apresentação na tela (16:9)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Aliasing, Instabilidade Não-Linear e Ondas Espúrias em Advecção Numérica</dc:title>
  <dc:subject>PptxGenJS Presentation</dc:subject>
  <dc:creator>MET-576-4</dc:creator>
  <cp:lastModifiedBy>paulo kubota</cp:lastModifiedBy>
  <cp:revision>2</cp:revision>
  <dcterms:created xsi:type="dcterms:W3CDTF">2026-06-15T00:01:45Z</dcterms:created>
  <dcterms:modified xsi:type="dcterms:W3CDTF">2026-06-15T00:14:37Z</dcterms:modified>
</cp:coreProperties>
</file>